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85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kiírás szerint minden alkalommal a teljes projektet kell bemutatni az alapoktól. A korábbi alkalmak diái ezért itt vannak egyben, alkalmanként külön szakaszban; a 7–8. alkalom a végén. Élőben a korábbi részeket röviden, egy-egy mondattal érintjük. A diáról a jegyzetbe került: Leltározó és leltárkezelő rendszer: a félév bemutatói, az alapoktól · Tervezés, adatmodell, prototípus · Valódi adat, végigjárható leltározás · Mennyiségek, helyiség, felelős, típus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második alkalom anyaga: a probléma, a szakmai szótár, a hasonló rendszerek, a nyitott kérdések, a felhasználók, a technológia, az első architektúra és adatmodell. A diáról a jegyzetbe került: Hasonló rendszerek · funkciók · nyitott kérdések · felhasználók · technológia · első architektúra és adatmodell · dokumentáció: ~5 oldal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három gyengeség végig a rendszer tervezési alapja marad: a napló a történet, a mennyiség a darabszám, az idegen körzetes beolvasás a harmadik pont. A diáról a jegyzetbe került: Kinyomtatott lista, végigjárt szobák, kézi pipák, utólagos visszavezetés a táblázatba. A módszer működik, de három ponton szerkezetileg gyenge. · A cella felülíródik: nem derül ki, mi mikor változott, és egy korábbi állapot nem rekonstruálható. · A „megvan / nincs meg” nem tudja kimondani, hogy harmincból huszonhét van meg. · Ami másik körzetből kerül elő, annak a nyomtatott listán nincs helye. · Leltárív · 2. alkalom · a leltározást a számviteli törvény írja elő: a beszámolót leltárral kell alátámasztani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szakmai szótárt nem keresztelhetjük saját nevekre: a dolgozatban és a kódban is ezekkel a fogalmakkal dolgozunk. A diáról a jegyzetbe került: A nyilvántartás szerinti, elvárt állomány; a leltározás nem módosítja. · Az állomány egyben bejárt egysége (261, 262); egy eszköz egy körzeté. · Egy leltárkampány nyitással és lezárással; a korábbiak megmaradnak. · Egy beolvasási esemény; az ismeretlen és az idegen kód is rögzül. · A nyilvántartott és a tényleges állomány eltérése: hiány vagy többlet. · Használatban, selejtezett, elveszett, eltulajdonított; időbélyeggel. · Leltárív · 2.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négy kérdés: hogyan azonosít egy eszközt, kezel-e mennyiséget, van-e időszakhoz kötött leltározás, és hogyan tartja nyilván a helyet, a felelőst és az állapotot. A diáról a jegyzetbe került: címke és gyári szám · hely, részletes állapot · széles tipológia · nincs; hálózati felderítés · hely, felhasználó · tételkód, eszköznév · csoportosítva, korlátokkal · mozgatási rekord · több kód, egyértelmű feloldással · időszak, lezárás, összevetés · időbélyeges hely és állapot · Időszakhoz kötött, körzetenként lezárható fizikai leltározást egyik sem kínál, pedig ez a kiírás közepe. Két megoldást átveszünk: a helyet külön, időbélyeges nyilvántartásban tartjuk, a megszűnést pedig állapotváltásként kezeljük. · Leltárív · 2.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Ezek akkor álláspontok voltak. Mind az öt azóta megvalósult: az ismeretlen kód a naplóba kerül, az idegen körzet a leolvasáson látszik, a többlet rögzül és visszavonható, a lezárt munkamenetet trigger védi. A diáról a jegyzetbe került: Ki nyithat leltári időszakot? · Csak adminisztrátor; egy körzetnek egy nyitott időszaka. · A nem azonosítható kód? · Nyersen tároljuk, külön listára kerül, utólag rendelhető. · Nem; az eltérés a leolvasáson jelenik meg. · Rögzítjük és jelezzük; visszavonható, a tény megmarad. · Nem: lezárás után csak olvasható. · Leltárív · 2. alkalom · mindegyik válasz azóta kódban is így működik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felületi elem elrejtése kényelmi, nem biztonsági megoldás: a végpont maga ellenőrzi a szerepkört (a szerepkör-ellenőrzés a 11. alkalom adminisztrációjával kerül be). A diáról a jegyzetbe került: Import, időszakok nyitása és zárása, eszköz felvétele, állapotváltás, riport. · Körzet és helyiség, sorozatos beolvasás, a saját hibás beolvasás visszavonása. · Lekérdez, szűr, exportál, írási jog nélkül. · Tíz felhasználási eset: import, keresés, időszak indítása, leltározás egy helyiségben, idegen körzet, több darab, visszavonás, összehasonlítás, állapotváltás, export. A jogosultság a szerveren dől el. · Leltárív · 2.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PySide6 LGPL licence az átadhatóság miatt fontos, a PyQt6 GPL-je kockázat lett volna. A táblázatkezelés érettsége volt a fő szempont, mert az alkalmazás listaközpontú. A diáról a jegyzetbe került: asztali, érett táblázatmodell, LGPL licenc · FastAPI, Uvicorn · automatikus OpenAPI, Pydantic-validálás · részleges index, trigger, tranzakció · közös Pydantic modellek · mindhárman ezt ismerjük a legjobban · Elvetve: a webes kliens (a kiírás tiltja, és a terepi munka olvasóvezérelt felületet kér), a JavaFX és a Compose Desktop (nincs kiforrott táblázat). · Leltárív · 2.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2. alkalmon három sávban (kliens, szerver, adat) mutattuk az első elképzelést; azóta ez a hat csomagos szerkezet áll. Az application csomag szándékosan üres: a 9. alkalom kiértékelése lesz az első több lépésből álló művelet. A diáról a jegyzetbe került: A szabályok adatbázis és hálózat nélkül tesztelhetők. · A kliens csak a szerződést ismeri · Adatbázis-kapcsolata nincs; minden üzleti döntés a szerveren születik. · Közös nyelv: contracts · Ha a szerver válasza változik, a típusellenőrzés jelez, nem a bemutató. · Leltárív · 2. alkalom · az ábra a mostani, megvalósított állapotot mutatja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három kulcsdöntés már ekkor megvolt: több kód eszközönként, a beolvasás esemény, és a hely, a felelős, az állapot nem az eszköz mezője. Az asset_status a 10. alkalommal jön. A diáról a jegyzetbe került: asset asset_code asset_type import_batch · a forrásadat, több kóddal eszközönként · inventory_zone inventory_period inventory_session scan · a beolvasás esemény: a napló csak bővül · Hely és felelős · room person asset_responsible asset_status · időbélyeges kapcsolat, nem az eszköz mezője · Leltárív · 2. alkalom · a részletes ER-modell a 3–4. alkalom anyaga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2. alkalom anyagában még a régi, téves sávkiosztás szerepelt (szerver, adat, kliens másként elosztva). A 3–4. alkalomtól ez a felosztás érvényes. A diáról a jegyzetbe került: Architektúra, adatszerződés, migráció, üzleti szabályok, beolvasó képernyő, DevOps, összeillesztés. · Full stack: import és seed, végpontok, ellenőrző lekérdezések, Helyiségek oldal. · Full stack: asztali kliens, API-kliens, szűrők, adatlap, olvasó-szimulátor. · A közös szerződést írjuk meg elsőként, utána párhuzamosan haladunk. Mindenki a saját fájljain dolgozik, saját commitokkal, és a saját részét mutatja be. · Leltárív · a 2. alkalmon bemutatott felosztás azóta módosult; ez a mostani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első összevont alkalom. Itt mértük végig a valódi forrásadatot, és ebből született az adatmodell négy döntése. A diáról a jegyzetbe került: A forrásadat mérése, az adatmodell, az architektúra, és az első működő váz. · Forrásadat · ER-modell · telepítés · képernyőtervek · folyamat · ütemterv · élő prototípus · dokumentáció: ~20 oldal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6 480 sorból 2 860 összesítő sor, ezeket az import eldobja. Ebből a négy számból jött az adatmodell: a kód egyedisége körzetenként értendő, a beolvasás alapja a leltárszám, a tartozék a forrásból jön, a mennyiség nem opcionális. A diáról a jegyzetbe került: Nyilvántartott darab · leltárszám mindkét körzetben, két különböző eszközre · sorban használható a gyári szám vonalkódként · tartozék egy számítógépnél: az alszám tartozékszerkezet · többdarabos tétel, a legnagyobb 51 darab · Leltárív · 3–4. alkalom · két SAP-export, körzetenként egy; a forrásban nincs helyiség, felelős, típus és állapot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tartozékkapcsolatot terveztük külön entitásnak (ASSET_ACCESSORY); a megvalósításban a parent_asset_id hivatkozás elég volt, mert a forrás alszáma ezt adja. A diáról a jegyzetbe került: A 3 620 sorra ütközésmentes, és megőrzi a tartozékszerkezetet. · A kód külön entitás · Egyedi a körzet és a normalizált kód párosa, nem a kód magában. · Szövegként tárolva · 554 leltárszám vezető nullával kezdődik; számmá alakítva elveszne. · Leltárív · 3–4. alkalom · az ábra a megvalósított sémát mutatja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négy adatmodell-döntés: a kulcs az eszközszám és az alszám; a kód egyedisége körzetenként; a beolvasás esemény, nem állapot; a leltár állapota számított. A diáról a jegyzetbe került: Trigger tiltja a módosítást és a törlést. · Javítás: ellentétes előjel · A tévedés egy új, kiegyenlítő sor, nem törlés. · Az állapot számított · A „27/30 db” lekérdezés, nem mező: egy elmaradt frissítéstől nem lesz hamis. · Leltárív · 3–4. alkalom · az ábra a 7–8. alkalom sémáját mutatja (visszavonás, lezárás, helyiség)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PostgREST-et akkor sem engedtük a kliens elé: ha a kliens a generált REST API-t hívná, az üzleti logika a kliensbe csúszna. A Supabase-ről a 3–4. alkalom után döntöttünk úgy, hogy az első fázisban nem kell; a döntés indoklása a tervezési anyagban van. A diáról a jegyzetbe került: Egy hálózati útvonal · A kliens csak a saját szerverünket hívja, a bejelentkezést is. · Először sima PostgreSQL · A terv Supabase-stack volt; az 1. fázisban Postgres és pgAdmin fut, a Supabase a 2. fázis. · Csak localhost · A konténerek portjai a hálózatról nem érhetők el. · Leltárív · 3–4.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eszközlista, a beolvasó képernyő és a Helyiségek oldal elkészült; az eltéréslista a 9., a riport és az adminisztráció a 11. alkalom. A diáról a jegyzetbe került: szerver, azonosító; a szerepkör dönti el, mi látszik · keresés, szűrés körzet, típus, helyiség, felelős szerint · a terepi munka teljes felülete · helyiség felvétele körzetenként · megtalált, hiányzó, többlet, idegen, mennyiségi eltérés · Riport, adminisztráció · export, import, időszak nyitása és zárása · A beolvasó képernyő szabályai · A mező soha nem veszíti el a fókuszt: az olvasó oda gépel. · A visszajelzés színnel és felirattal is: rossz fényben a szín kevés. · Hálózati hívás soha nem a felület szálán. · Leltárív · 3–4. alkalom · a leltározó egy kézzel, mozgás közben dolgozik; az adminisztrátor ülve, egérrel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3–4. alkalmon a tervezett folyamatot mutattuk; a darabszám bekérése azóta a beolvasás elé került, hogy a vonalkódolvasó Entere után ne jöjjön még egy ablak. A diáról a jegyzetbe került: Az ismeretlen és az idegen kód is a naplóba kerül. · A többletet engedjük · A leltározó azt rögzíti, amit lát; a tiltás elrejtené. · Lezárt munkamenet · Nem fogad beolvasást; a szerver érthető mondattal utasít el. · Leltárív · 3–4. alkalom · az ábra a 7–8. alkalom megvalósítását mutatja (darabszám a beolvasás előtt, visszavonás)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Másodlagos javaslat: élő, több felhasználós leltározás. A napló eseménynapló, így ehhez nem kellene új adatszerkezet, de több a kockázata. A diáról a jegyzetbe került: Vonalkódcímke-előállítás · Nyomtatható címkelap vonalkóddal vagy QR-kóddal; a címke kódja az eszköz kódjai közé kerül. · Mert a gyári szám csak 21 sorban használható: címke nélkül a vonalkódos leltár nem végezhető el. · valódi adat, végigjárható leltározás · mennyiségek; helyiség, felelős, típus · összehasonlítás; állapotok, történetiség · adminisztráció, export; kiegészítő funkció · tesztelés, véglegesítés, záróbemutató · Leltárív · 3–4. alkalom · a kiegészítő funkciót a megvalósítás előtt az oktatóval egyeztetjük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Élőben akkor: a séma, a seed, a Swagger UI, majd a kliens bejelentkezéssel, eszközlistával és kereséssel. A diáról a jegyzetbe került: Séma és seed · Alembic-migráció, 10 tábla, 3 620 eszköz betöltve. · Szerver · Bejelentkezés, körzetek, lapozott eszközlista; Swagger UI. · Kliens · Bejelentkezés, eszközlista, keresés név és kód szerint. · Repó és CI · Formázás, lint, típusellenőrzés, tesztek minden PR-on. · Leltárív · 3–4. alkalom · a kép az 5–6. alkalmi állapotot mutatja, a lista két szűrővel bővült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5. mérföldkő a valódi adat, a 6. a leltározás alapjai. A bemutatón egy leltározó a bejelentkezéstől a beolvasásokig végigment a folyamaton. A diáról a jegyzetbe került: Import hibalistával, szűrők és adatlap, munkamenet, beolvasás, kódfeloldás. · 15/15 mérföldkőpont: az 5.: 8 pont, a 6.: 7 pont · dokumentáció: ~30 oldal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mentési pont ára: soronként egy további adatbázis-kör, a teljes betöltés így egy-két percig tart. Egyszeri adminisztrátori műveletnél ez elfogadható; a felületi importnál (11. alkalom) haladásjelző kell. A diáról a jegyzetbe került: Ha egy sor hibás, csak az gördül vissza; a betöltés folytatódik. · Sorszámmal · „Sor 18: Hiányzó kötelező mező: Eszköz.” · 3620/3620 · 0 hibás sor, 763 tartozék a főeszközéhez kötve. · Leltárív · 5–6. alkalom · a típusjavaslat és a demóadat a 7–8. alkalommal került a seedbe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szabály egy mondatban: ha a kód az aktív körzetben megvan, RENDBEN; ha csak máshol, IDEGEN KÖRZET; ha sehol, ISMERETLEN. A 024540 a 262-ben mindig a 262-es széket adja. A diáról a jegyzetbe került: A domainben · Adatbázis nélkül, hat egységteszttel. · mert a (körzet, kód) páros egyedi: egy körzetből egy találat. · Az üzenet is itt · A kliens nem rak össze mondatot. · Leltárív · 5–6.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szimulátor három gombja: érvényes kód, idegen körzet kódja, érvénytelen kód. Mivel ugyanabba a mezőbe ír, a képernyő nem tudja megkülönböztetni a valódi olvasótól, és éppen ez a cél. A diáról a jegyzetbe került: Enterre ürül a mező · Különben a következő kód az előző végére íródna. · A közben érkező kódok sorba állnak, nem vesznek el. · Ha elvándorol, a beolvasás a semmibe megy. · Leltárív · 5–6. alkalom · a szimulátor (Ádám) 15 ms-onként gépel karaktert, majd Entert, ugyanabba a mezőbe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negyedik lekérdezésnél két eszköz többletet mutatott, mert ugyanazt a címkét kétszer olvastuk be. Ezt a 7. mérföldkő szabályai kezelik: a többletet engedjük, a tévedést visszavonjuk. A diáról a jegyzetbe került: XYZ-NINCS, kétszer beolvasva · Mi került elő idegen körzetből? · 022598 papírvágógép, saját körzete 261 · 3038591 szék: 3 nyilvántartva, 2 beolvasva · Mind a négy csak az eszközökből és a beolvasási naplóból dolgozik, tárolt összesítés nélkül. Ezt a dolgozat 12.4 fejezete ígérte. · Leltárív · 5–6. alkalom · scripts/ellenorzo-lekerdezesek.sql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kettős szűrés az összefésüléskor derült ki: a táblázat rendezőmodellje is szűrt, és egy névre keresve eltüntette a szerver találatait. A javítás után a szűrés egy helyen, a szerveren történik. A diáról a jegyzetbe került: Két új szűrő · Csak főeszközök (alszám 0), csak többdarabos (mennyiség nagyobb 1-nél). · Adatlap · Dupla kattintásra: a kódok, elöl az elsődleges, és a tartozékok. · A proxy csak rendez · Különben egy leltárszámra keresve elrejtené a szerver találatait. · Leltárív · 5–6.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összefésüléskor három hiba jött elő, egyik sem volt látható a saját ágon: a kettős szűrés, a szimulátor „1”-es előtagja, és a lambdához kötött Qt-jel, amely nem a felületi szálon futott. A diáról a jegyzetbe került: Mindegyik mellett ott a felirat is, nem csak a szín. A 024540 mindkét körzetben szerepel, két különböző székre: a 262-ben a 262-est kapjuk. · Leltárív · 5–6. alkalom · akkor 31 automatikus teszt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Sanyi, kb. 1:15. A probléma három mondatban, majd a két mérföldkő: a 7. a mennyiség (31 db-os székből 27 megvan, 4 hiányzik), a 8. a leltározás közben keletkező adat (helyiség, felelős, típus). 13 pont, mind működik. Áttettük a 9.-re: a tartozékok ellenőrzött vagy feltételezett minősítését, mert az összehasonlításban számolható. A diáról a jegyzetbe került: Ma Excel és kézi pipák: nem követhető, mi változott, nincs darabszám, és az idegen helyről előkerült eszköz elvész. · Csernus Sándor · Éder Dániel · Nagy-Zsugya Ádám · 7. alkalom: 7 pont 8. alkalom: 6 pont · A tartozékok minősítése a 9. alkalomra került: az összehasonlításban számolható.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Sanyi, kb. 1:00. A felépítés nem változott. Új: a naplót védő négy szabályt az adatbázis tartja, nem a program, mert ott két gyors kattintásnál vagy egy hibás kódrésznél is igaz marad. Ezt az 5. dián a Swaggerben megmutatom. Utána Dani jön. A diáról a jegyzetbe került: Kliens · PySide6, asztali · /api/v1 · FastAPI, üzleti szabályok · PostgreSQL · napló, csak bővülhet · A második visszavonás 409, két gyors kattintásnál is. · Téves beolvasás nem törlődik: ellentétes előjelű sor. · Lezárás után nem kerülhet be beolvasás. · Váltáskor a régi sor lezárul, nem íródik felül. · Leltárív · 7–8.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Mindhárom szabályra felületi teszt van: a helyiség átállítása nem íródik rá a sorban álló kódra; a visszavonás a sor végére áll; a Befejezés megvárja a még úton lévő beolvasást. A diáról a jegyzetbe került: Pillanatkép a sorban · A kód a darabszámmal és a helyiséggel együtt áll sorba: a később átállított helyiség nem íródik rá. · Visszavonás a soron · Nem előzheti meg azt, amit visszavon. · A szabály a szerveren · resolve és count_result a domainben; a kliens csak megjelenít. · Leltárív · 7–8. alkalom · háttérdia, élőben átugorható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Dani, kb. 1:30, élőben: Helyiségek menü, 262, új helyiség (G-301 Raktár), ugyanaz még egyszer → a szerver mondata. Swagger: GET /api/v1/asset-types. A kimondandó szöveg Dani saját nyers szövegéből készül (07-dani-szoveg.md). A diáról a jegyzetbe került: A Helyiségek oldalon és a POST /rooms végponton. · Az adatbázis egyedi megkötése dönt, nem egy előzetes lekérdezés. · Lista, új típus, átsorolás és típusszűrő; a lista nincs a programba égetve. · Leltárív · 7–8.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Ádám, kb. 1:30, élőben: belépés után a lista; körzet 262 → a helyiségszűrő bekapcsol; Felelős: Teszt Anna → 8 eszköz; adatlap: felelős → Teszt Béla, mentés, bezárás után a lista frissül. A kimondandó szöveg Ádám saját nyers szövegéből készül (08-adam-szoveg.md). Ádám. A lista a 262-es körzetre és Teszt Anna felelősre szűrve; a következő dia az adatlap. A diáról a jegyzetbe került: Szűrés körzetre, helyiségre, típusra és felelősre · Típus és Felelős oszlop · az adatlapon típus és felelős mentése · Leltárív · 7–8. alkalom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Ádám. Dupla kattintás egy eszközön: az adatlapon a típus és a felelős legördülő, külön mentés gombbal. Új típus is felvehető innen.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Sanyi, kb. 2:45, élőben. Leltározás, 262, helyiség G-105. Darab 27, 027134 → RENDBEN 27/31, hiányzik 4. Darab 5, 027134 → TÖBBLET 32/31. A TÖBBLET sor kijelölése, Ctrl+Z → VISSZAVONVA, a sor áthúzva marad. 005071 → idegen körzet. Befejezés. Swagger: ugyanannak a visszavonásnak a második kérése 409, beolvasás a lezárt munkamenetbe 409. A diáról a jegyzetbe került: RENDBEN · 27 db · 27/31 db, hiányzik 4. · TÖBBLET · +5 db · 32 db a nyilvántartott 31 helyett. · VISSZAVONVA · −5 db · Új sor a naplóban, semmi nem törlődik. · Leltárív · 7–8. alkalom · a hiányt és a többletet nem tároljuk: a naplóból számoljuk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beolvasott darab az eszköz FOUND és SURPLUS sorainak quantity_delta-összege a munkamenet időszakában; az idegen körzetes beolvasás nem számít bele. A diáról a jegyzetbe került: A hiány és a többlet lekérdezés, nem mező. · SURPLUS: pillanatkép · Azt rögzíti, hogy a beolvasás pillanatában túllépte. · Visszavonás · Új sor −5 darabbal; egyszer lehet, az adatbázis tartja. · Leltárív · 7–8. alkalom · háttérdia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felelős adatai személyes adatok, ezért a demóban álnevesítve (Teszt Anna … Teszt Erika). A felelősszűrő a nyitott sort nézi. A diáról a jegyzetbe került: PUT /assets/{id}/responsible: a régi sor lezárul, új nyílik, egy tranzakcióban. A korábbi felelős megmarad, ez a 10. alkalom történetiségének alapja. · Leltárív · 7–8. alkalom · a demóállományban öt kitalált felelős van, valódi munkatárs neve nem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eszköz helye az aktív időszak legutóbbi, vissza nem vont, helyiséggel rögzített beolvasása; erre szűr a helyiségszűrő is. A diáról a jegyzetbe került: Kész: felelős · Részleges egyedi index: egy nyitott sor eszközönként. · A hely a naplóból · Eltérés a tervtől: külön hely-tábla akkor kell, ha beolvasás nélkül is áthelyezünk. · 10. alkalom · Állapottörténet, helytörténet, fotók. · Leltárív · 7–8. alkalom · háttérdia; szaggatott: tervezett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Sanyi, kb. 1:15. Típus: a 262-ben 2531 tételre 916 különböző megnevezés; eddig mindegyik saját típus volt (1009). Most tíz kategória kulcsszavak alapján; első változat 41,3% Egyéb, a valódi adaton hangolva 22,3%. pgAdmin: asset_responsible, egy eszköz két sora (a táblázat a dián példa). Következő két hét, köszönjük, kérdések. A diáról a jegyzetbe került: maradt „Egyéb” a 3620 tételből; az első változatnál 41,3%. Tíz kategória, a lista az adatbázisban bővíthető. · Felelős, időbélyeggel · Teszt Anna · okt. 18. · okt. 20. · Teszt Béla · nyitott · A következő két hét · 9. alkalom · Összehasonlítás a forrással, hiány- és többletlista, a tartozékok minősítése. · 10. alkalom · Eszközállapotok és történetiség. · Leltárív · 7–8. alkalom · 57 automatikus teszt; a CI minden PR-nál oda-vissza futtatja a migrációt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CI egy postgres:17 szolgáltatáson futtatja a migrációt: upgrade head, downgrade base, upgrade head. Az 5–6. alkalom előtt pont egy hibás downgrade volt a kódban; ez most a PR-on derülne ki. A diáról a jegyzetbe került: 57 teszt · ruff, pyright és pytest minden PR-on. · Migráció oda-vissza · A hibás downgrade piros PR, nem átadási hiba. · Egy paranccsal · A friss klóntól a kliensig. · Leltárív · 7–8. alkalom · háttérdia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566405" cy="609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80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4" y="1879545"/>
            <a:ext cx="10566416" cy="416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566405" cy="609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80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4" y="1879545"/>
            <a:ext cx="10566416" cy="416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14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2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0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ÁTTEKINTÉS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3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01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1353795"/>
            <a:ext cx="6540454" cy="1231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100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LELTÁRÍV</a:t>
            </a:r>
            <a:endParaRPr lang="en-US" sz="10000" dirty="0"/>
          </a:p>
        </p:txBody>
      </p:sp>
      <p:sp>
        <p:nvSpPr>
          <p:cNvPr id="8" name="Text 4"/>
          <p:cNvSpPr/>
          <p:nvPr/>
        </p:nvSpPr>
        <p:spPr>
          <a:xfrm>
            <a:off x="812784" y="2712663"/>
            <a:ext cx="6540454" cy="482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FÉLÉV BEMUTATÓI, AZ ALAPOKTÓL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812784" y="3322251"/>
            <a:ext cx="6540454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Csernus Sándor · Éder Dániel · Nagy-Zsugya Ádám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12784" y="3758457"/>
            <a:ext cx="6349956" cy="0"/>
          </a:xfrm>
          <a:prstGeom prst="line">
            <a:avLst/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7"/>
          <p:cNvSpPr/>
          <p:nvPr/>
        </p:nvSpPr>
        <p:spPr>
          <a:xfrm>
            <a:off x="812784" y="3841679"/>
            <a:ext cx="2223741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124127" y="3841679"/>
            <a:ext cx="2788890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probléma és az ötletelés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2784" y="4206772"/>
            <a:ext cx="6349956" cy="0"/>
          </a:xfrm>
          <a:prstGeom prst="line">
            <a:avLst/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812784" y="4289995"/>
            <a:ext cx="2223741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· szept. 22.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124127" y="4289995"/>
            <a:ext cx="2383388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Tervezés és prototípus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84" y="4655087"/>
            <a:ext cx="6349956" cy="0"/>
          </a:xfrm>
          <a:prstGeom prst="line">
            <a:avLst/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3"/>
          <p:cNvSpPr/>
          <p:nvPr/>
        </p:nvSpPr>
        <p:spPr>
          <a:xfrm>
            <a:off x="812784" y="4738310"/>
            <a:ext cx="2223741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5–6. · okt. 6.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124127" y="4738310"/>
            <a:ext cx="2308175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Valódi adat, leltározás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12784" y="5103402"/>
            <a:ext cx="6349956" cy="0"/>
          </a:xfrm>
          <a:prstGeom prst="line">
            <a:avLst/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6"/>
          <p:cNvSpPr/>
          <p:nvPr/>
        </p:nvSpPr>
        <p:spPr>
          <a:xfrm>
            <a:off x="812784" y="5186624"/>
            <a:ext cx="2223741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· okt. 20.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124127" y="5186624"/>
            <a:ext cx="2890188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Mennyiség, helyiség, felelős</a:t>
            </a:r>
            <a:endParaRPr lang="en-US" sz="15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21" b="-21"/>
          <a:stretch/>
        </p:blipFill>
        <p:spPr>
          <a:xfrm>
            <a:off x="7569133" y="2089152"/>
            <a:ext cx="3809953" cy="26288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2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0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4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02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2270507"/>
            <a:ext cx="6540454" cy="11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0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2. </a:t>
            </a:r>
            <a:r>
              <a:rPr lang="en-US" sz="90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ALKALOM</a:t>
            </a:r>
            <a:endParaRPr lang="en-US" sz="9000" dirty="0"/>
          </a:p>
        </p:txBody>
      </p:sp>
      <p:sp>
        <p:nvSpPr>
          <p:cNvPr id="8" name="Text 4"/>
          <p:cNvSpPr/>
          <p:nvPr/>
        </p:nvSpPr>
        <p:spPr>
          <a:xfrm>
            <a:off x="812784" y="3534091"/>
            <a:ext cx="6540454" cy="55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PROBLÉMA ÉS AZ ÖTLETELÉS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812784" y="4245277"/>
            <a:ext cx="6756348" cy="31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 akarunk megvalósítani, és milyen irányban haladunk tovább.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69133" y="2006601"/>
            <a:ext cx="2793972" cy="27939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0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 · A PROBLÉMA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03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1595137"/>
            <a:ext cx="7325326" cy="124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AMIT MA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EGY EXCEL-TÁBLA OLD MEG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812784" y="3042870"/>
            <a:ext cx="406367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1346135" y="3042870"/>
            <a:ext cx="6775975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Nincs történet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346135" y="3373076"/>
            <a:ext cx="6775975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cella felülíródik: nem látszik, mi mikor változott.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12784" y="3825170"/>
            <a:ext cx="406367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1346135" y="3825170"/>
            <a:ext cx="6775975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Nincs darabszám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346135" y="4155376"/>
            <a:ext cx="6775975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pipa nem mondja ki, hogy 30-ból 27 van meg.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12784" y="4607469"/>
            <a:ext cx="406367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1346135" y="4607469"/>
            <a:ext cx="6775975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Elvész az idegen eszköz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346135" y="4937677"/>
            <a:ext cx="6775975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más körzetből előkerült eszköznek nincs helye.</a:t>
            </a:r>
            <a:endParaRPr lang="en-US" sz="1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62" b="-62"/>
          <a:stretch/>
        </p:blipFill>
        <p:spPr>
          <a:xfrm>
            <a:off x="8331144" y="1708121"/>
            <a:ext cx="3047993" cy="3390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0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 · SZAKMAI SZÓTÁR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04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5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FOGALMAK,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VÉGIG EGY ÉRTELEMBEN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722" y="1838650"/>
          <a:ext cx="10556467" cy="3056326"/>
        </p:xfrm>
        <a:graphic>
          <a:graphicData uri="http://schemas.openxmlformats.org/drawingml/2006/table">
            <a:tbl>
              <a:tblPr/>
              <a:tblGrid>
                <a:gridCol w="3800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6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Fogalom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Jelentés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Leltári forrásadat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nyilvántartás szerinti, elvárt állomány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Leltárkörzet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 egyben bejárt egység (261, 262)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Leltározási időszak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egy leltárkampány nyitással és lezárással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Leolvasás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egy beolvasás; az ismeretlen kód is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Leltári különbözet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hiány vagy többlet a nyilvántartáshoz képest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Eszközállapot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használatban, selejtezett, elveszett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 · HASONLÓ RENDSZEREK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05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UGYANAZ A KÉRDÉS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MINDHEZ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722" y="1838650"/>
          <a:ext cx="10556468" cy="2183090"/>
        </p:xfrm>
        <a:graphic>
          <a:graphicData uri="http://schemas.openxmlformats.org/drawingml/2006/table">
            <a:tbl>
              <a:tblPr/>
              <a:tblGrid>
                <a:gridCol w="253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1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Rendszer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Mennyiség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Időszakos leltár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Snipe-IT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nem jellemző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eszközönkénti audit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GLPI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fogyóeszköznél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nincs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ERPNext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csoportosítva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nincs leltárkampány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Leltárív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elvárt, beolvasott, hiány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2B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időszak, lezárás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2B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812784" y="4275711"/>
            <a:ext cx="10883397" cy="31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Időszakhoz kötött, körzetenként lezárható leltárt egyik sem kínál.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8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 · NYITOTT KÉRDÉSEK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1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06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AMIT A KIÍRÁS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NYITVA HAGY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722" y="1838650"/>
          <a:ext cx="10556468" cy="2619708"/>
        </p:xfrm>
        <a:graphic>
          <a:graphicData uri="http://schemas.openxmlformats.org/drawingml/2006/table">
            <a:tbl>
              <a:tblPr/>
              <a:tblGrid>
                <a:gridCol w="464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1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Kérdés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mi válaszunk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Ki nyithat időszakot?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csak adminisztrátor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Nem azonosítható kód?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nyersen tároljuk, külön listán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Több körzethez tartozhat?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nem; az eltérés a beolvasáson látszik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Többet olvastunk, mint ami van?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rögzítjük, jelezzük, visszavonható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Lezárt időszakba olvasás?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nem, utána csak olvasható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 · FELHASZNÁLÓK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07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HÁROM SZEREPKÖR,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TÍZ ESET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22309" y="1838238"/>
            <a:ext cx="3333738" cy="1946818"/>
          </a:xfrm>
          <a:prstGeom prst="roundRect">
            <a:avLst>
              <a:gd name="adj" fmla="val 4730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205" r="-205"/>
          <a:stretch/>
        </p:blipFill>
        <p:spPr>
          <a:xfrm>
            <a:off x="1083316" y="2073833"/>
            <a:ext cx="482578" cy="4571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3316" y="2619865"/>
            <a:ext cx="2896077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Adminisztrátor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083316" y="3000843"/>
            <a:ext cx="2896077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Import, időszakok, eszközök, riport.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429066" y="1838238"/>
            <a:ext cx="3333789" cy="1946818"/>
          </a:xfrm>
          <a:prstGeom prst="roundRect">
            <a:avLst>
              <a:gd name="adj" fmla="val 4730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726" r="-726"/>
          <a:stretch/>
        </p:blipFill>
        <p:spPr>
          <a:xfrm>
            <a:off x="4690073" y="2073833"/>
            <a:ext cx="374614" cy="4571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90073" y="2619865"/>
            <a:ext cx="2896130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Leltározó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690073" y="3000843"/>
            <a:ext cx="2896130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Körzet, helyiség, beolvasás, visszavonás.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8035875" y="1838238"/>
            <a:ext cx="3333789" cy="1946818"/>
          </a:xfrm>
          <a:prstGeom prst="roundRect">
            <a:avLst>
              <a:gd name="adj" fmla="val 4730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96881" y="2073833"/>
            <a:ext cx="457165" cy="4571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96881" y="2619865"/>
            <a:ext cx="2896130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Olvasó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8296881" y="3000843"/>
            <a:ext cx="2896130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Lekérdez, szűr, exportál; írni nem tud.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12784" y="4048550"/>
            <a:ext cx="10883397" cy="31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jogosultság a szerveren dől el, nem a kliensben.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 · TECHNOLÓGIA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8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08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PYTHON VÉGIG,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ASZTALI KLIENSSEL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722" y="1838650"/>
          <a:ext cx="10556468" cy="2619708"/>
        </p:xfrm>
        <a:graphic>
          <a:graphicData uri="http://schemas.openxmlformats.org/drawingml/2006/table">
            <a:tbl>
              <a:tblPr/>
              <a:tblGrid>
                <a:gridCol w="2322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4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Réteg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Választás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Miért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Kliens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PySide6 (Qt 6)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érett táblázatmodell, LGPL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Szerver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FastAPI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OpenAPI, validálás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Adatbázis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PostgreSQL 17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index, trigger, tranzakció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Szerződés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Pydantic modellek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egy igazság, két oldalon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Nyelv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Python 3.12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mindhárman ezt ismerjük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812784" y="4712329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Elvetve: webes kliens (a kiírás tiltja), JavaFX, Compose Desktop.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1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 · ARCHITEKTÚRA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09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HAT CSOMAG,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SZIGORÚ IRÁNYOKKAL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 hat csomag és a függési irány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63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domain semmitől nem függ; a kliens csak a szerződést ismeri.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1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ALKALOM · ADATMODELL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10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HÁROM CSOPORT,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EGY GERINC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22309" y="1838238"/>
            <a:ext cx="3333738" cy="2044017"/>
          </a:xfrm>
          <a:prstGeom prst="roundRect">
            <a:avLst>
              <a:gd name="adj" fmla="val 4505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5"/>
          <p:cNvSpPr/>
          <p:nvPr/>
        </p:nvSpPr>
        <p:spPr>
          <a:xfrm>
            <a:off x="1083316" y="2073833"/>
            <a:ext cx="2896077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Eszköz-oldal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83316" y="2454815"/>
            <a:ext cx="2896077" cy="854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asset</a:t>
            </a:r>
            <a:endParaRPr lang="en-US" sz="1500" dirty="0"/>
          </a:p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asset_code</a:t>
            </a:r>
            <a:endParaRPr lang="en-US" sz="1500" dirty="0"/>
          </a:p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asset_type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83316" y="3372352"/>
            <a:ext cx="289607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forrásadat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29066" y="1838238"/>
            <a:ext cx="3333789" cy="2044017"/>
          </a:xfrm>
          <a:prstGeom prst="roundRect">
            <a:avLst>
              <a:gd name="adj" fmla="val 4505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4690073" y="2073833"/>
            <a:ext cx="2896130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Leltározás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90073" y="2454815"/>
            <a:ext cx="2896130" cy="854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inventory_period</a:t>
            </a:r>
            <a:endParaRPr lang="en-US" sz="1500" dirty="0"/>
          </a:p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inventory_session</a:t>
            </a:r>
            <a:endParaRPr lang="en-US" sz="1500" dirty="0"/>
          </a:p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90073" y="3372352"/>
            <a:ext cx="2896130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napló csak bővül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35875" y="1838238"/>
            <a:ext cx="3333789" cy="2044017"/>
          </a:xfrm>
          <a:prstGeom prst="roundRect">
            <a:avLst>
              <a:gd name="adj" fmla="val 4505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Text 13"/>
          <p:cNvSpPr/>
          <p:nvPr/>
        </p:nvSpPr>
        <p:spPr>
          <a:xfrm>
            <a:off x="8296881" y="2073833"/>
            <a:ext cx="2896130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Hely, felelős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296881" y="2454815"/>
            <a:ext cx="2896130" cy="854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room</a:t>
            </a:r>
            <a:endParaRPr lang="en-US" sz="1500" dirty="0"/>
          </a:p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person</a:t>
            </a:r>
            <a:endParaRPr lang="en-US" sz="1500" dirty="0"/>
          </a:p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asset_responsible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296881" y="3372352"/>
            <a:ext cx="2896130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időbélyeges kapcsolat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MUNKAMEGOSZTÁS · A MOSTANI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11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KI MIT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VISZ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22309" y="1838238"/>
            <a:ext cx="3333738" cy="1400787"/>
          </a:xfrm>
          <a:prstGeom prst="roundRect">
            <a:avLst>
              <a:gd name="adj" fmla="val 6573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5"/>
          <p:cNvSpPr/>
          <p:nvPr/>
        </p:nvSpPr>
        <p:spPr>
          <a:xfrm>
            <a:off x="1083316" y="2073833"/>
            <a:ext cx="2896077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Csernus Sándor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83316" y="2454808"/>
            <a:ext cx="2896077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Architektúra, szabályok, beolvasó képernyő, DevOps.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429066" y="1838238"/>
            <a:ext cx="3333789" cy="1400787"/>
          </a:xfrm>
          <a:prstGeom prst="roundRect">
            <a:avLst>
              <a:gd name="adj" fmla="val 6573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8"/>
          <p:cNvSpPr/>
          <p:nvPr/>
        </p:nvSpPr>
        <p:spPr>
          <a:xfrm>
            <a:off x="4690073" y="2073833"/>
            <a:ext cx="2896130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Éder Dániel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90073" y="2454808"/>
            <a:ext cx="2896130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és seed, végpontok, lekérdezések, Helyiségek.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35875" y="1838238"/>
            <a:ext cx="3333789" cy="1400787"/>
          </a:xfrm>
          <a:prstGeom prst="roundRect">
            <a:avLst>
              <a:gd name="adj" fmla="val 6573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1"/>
          <p:cNvSpPr/>
          <p:nvPr/>
        </p:nvSpPr>
        <p:spPr>
          <a:xfrm>
            <a:off x="8296881" y="2073833"/>
            <a:ext cx="2896130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Nagy-Zsugya Ádám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296881" y="2454808"/>
            <a:ext cx="2896130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Asztali kliens, szűrők, adatlap, olvasó-szimulátor.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12784" y="3502515"/>
            <a:ext cx="10883397" cy="31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Mindenki a saját fájljain dolgozik, és a saját részét mutatja be.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1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SZEPT. 22.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12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2124813"/>
            <a:ext cx="6540454" cy="11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0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3–4. </a:t>
            </a:r>
            <a:r>
              <a:rPr lang="en-US" sz="90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ALKALOM</a:t>
            </a:r>
            <a:endParaRPr lang="en-US" sz="9000" dirty="0"/>
          </a:p>
        </p:txBody>
      </p:sp>
      <p:sp>
        <p:nvSpPr>
          <p:cNvPr id="8" name="Text 4"/>
          <p:cNvSpPr/>
          <p:nvPr/>
        </p:nvSpPr>
        <p:spPr>
          <a:xfrm>
            <a:off x="812784" y="3388401"/>
            <a:ext cx="6540454" cy="55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TERVEZÉS ÉS PROTOTÍPUS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812784" y="4099582"/>
            <a:ext cx="6540454" cy="60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forrásadat mérése, az adatmodell, az architektúra és az első működő váz.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121" b="-121"/>
          <a:stretch/>
        </p:blipFill>
        <p:spPr>
          <a:xfrm>
            <a:off x="7569133" y="1701806"/>
            <a:ext cx="3174952" cy="3403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1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DANI · A FORRÁSADAT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13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MIND A 6 480 SORT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VÉGIGOLVASTUK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722" y="1838650"/>
          <a:ext cx="5197026" cy="2183090"/>
        </p:xfrm>
        <a:graphic>
          <a:graphicData uri="http://schemas.openxmlformats.org/drawingml/2006/table">
            <a:tbl>
              <a:tblPr/>
              <a:tblGrid>
                <a:gridCol w="2078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261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262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Együtt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Nyers sor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2 154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4 326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6 480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Valódi tétel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1 089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2 531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3 620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Nyilvántartott db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1 589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3 166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4 755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Alszámos sor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27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740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767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283244" y="1838238"/>
            <a:ext cx="2457500" cy="1455442"/>
          </a:xfrm>
          <a:prstGeom prst="roundRect">
            <a:avLst>
              <a:gd name="adj" fmla="val 6326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Text 5"/>
          <p:cNvSpPr/>
          <p:nvPr/>
        </p:nvSpPr>
        <p:spPr>
          <a:xfrm>
            <a:off x="6493477" y="1997646"/>
            <a:ext cx="2098144" cy="55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6"/>
          <p:cNvSpPr/>
          <p:nvPr/>
        </p:nvSpPr>
        <p:spPr>
          <a:xfrm>
            <a:off x="6493477" y="2619915"/>
            <a:ext cx="2098144" cy="53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leltárszám mindkét körzetben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912165" y="1838238"/>
            <a:ext cx="2457500" cy="1455442"/>
          </a:xfrm>
          <a:prstGeom prst="roundRect">
            <a:avLst>
              <a:gd name="adj" fmla="val 6326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8"/>
          <p:cNvSpPr/>
          <p:nvPr/>
        </p:nvSpPr>
        <p:spPr>
          <a:xfrm>
            <a:off x="9122397" y="1997646"/>
            <a:ext cx="2098144" cy="55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21</a:t>
            </a:r>
            <a:endParaRPr lang="en-US" sz="4200" dirty="0"/>
          </a:p>
        </p:txBody>
      </p:sp>
      <p:sp>
        <p:nvSpPr>
          <p:cNvPr id="14" name="Text 9"/>
          <p:cNvSpPr/>
          <p:nvPr/>
        </p:nvSpPr>
        <p:spPr>
          <a:xfrm>
            <a:off x="9122397" y="2619915"/>
            <a:ext cx="2098144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sorban jó a gyári szám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283244" y="3465103"/>
            <a:ext cx="2457500" cy="1198263"/>
          </a:xfrm>
          <a:prstGeom prst="roundRect">
            <a:avLst>
              <a:gd name="adj" fmla="val 7684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Text 11"/>
          <p:cNvSpPr/>
          <p:nvPr/>
        </p:nvSpPr>
        <p:spPr>
          <a:xfrm>
            <a:off x="6493477" y="3624511"/>
            <a:ext cx="2098144" cy="55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18</a:t>
            </a:r>
            <a:endParaRPr lang="en-US" sz="4200" dirty="0"/>
          </a:p>
        </p:txBody>
      </p:sp>
      <p:sp>
        <p:nvSpPr>
          <p:cNvPr id="17" name="Text 12"/>
          <p:cNvSpPr/>
          <p:nvPr/>
        </p:nvSpPr>
        <p:spPr>
          <a:xfrm>
            <a:off x="6493477" y="4246780"/>
            <a:ext cx="2098144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tartozék egy gépnél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912165" y="3465103"/>
            <a:ext cx="2457500" cy="1198263"/>
          </a:xfrm>
          <a:prstGeom prst="roundRect">
            <a:avLst>
              <a:gd name="adj" fmla="val 7684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Text 14"/>
          <p:cNvSpPr/>
          <p:nvPr/>
        </p:nvSpPr>
        <p:spPr>
          <a:xfrm>
            <a:off x="9122397" y="3624511"/>
            <a:ext cx="2098144" cy="55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218</a:t>
            </a:r>
            <a:endParaRPr lang="en-US" sz="4200" dirty="0"/>
          </a:p>
        </p:txBody>
      </p:sp>
      <p:sp>
        <p:nvSpPr>
          <p:cNvPr id="20" name="Text 15"/>
          <p:cNvSpPr/>
          <p:nvPr/>
        </p:nvSpPr>
        <p:spPr>
          <a:xfrm>
            <a:off x="9122397" y="4246780"/>
            <a:ext cx="2098144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többdarabos tétel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ADATMODELL · FORRÁSOLDAL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14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AZ ESZKÖZ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ÉS A KÓDJAI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ER-ábra, forrásold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63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Kulcs: eszközszám + alszám. A kód szöveg: 554 leltárszám nullával kezdődik.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1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ADATMODELL · LELTÁROZÁS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15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BEOLVASÁS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ESEMÉNY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ER-ábra, leltározá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63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napló csak bővül; a tévedés kiegyenlítő sor, nem törlés.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1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1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ARCHITEKTÚRA ÉS TELEPÍTÉS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28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16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7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 FUT,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ÉS HOL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9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Telepítési ké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69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44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0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kliens csak a saját szerverünket hívja; a portok csak localhoston érhetők el.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8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ÁDÁM · KÉPERNYŐTERVEK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17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6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TEREP ÉS IRODA: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KÜLÖN FELÜLET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722" y="1838650"/>
          <a:ext cx="6213060" cy="3056326"/>
        </p:xfrm>
        <a:graphic>
          <a:graphicData uri="http://schemas.openxmlformats.org/drawingml/2006/table">
            <a:tbl>
              <a:tblPr/>
              <a:tblGrid>
                <a:gridCol w="2485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Képernyő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Szerepe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Bejelentkezés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szerepkör dönti el, mi látszik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Eszközlista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keresés és négy szűrő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Beolvasó képernyő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terepi munka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Helyiségek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felvétel körzetenként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Eltéréslista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hiány, többlet, idegen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Riport, admin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export, import, időszak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289751" y="1828713"/>
            <a:ext cx="4089438" cy="3066263"/>
          </a:xfrm>
          <a:prstGeom prst="roundRect">
            <a:avLst>
              <a:gd name="adj" fmla="val 3313"/>
            </a:avLst>
          </a:prstGeom>
          <a:solidFill>
            <a:srgbClr val="343434"/>
          </a:solidFill>
          <a:ln/>
          <a:effectLst>
            <a:outerShdw dist="5388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Text 5"/>
          <p:cNvSpPr/>
          <p:nvPr/>
        </p:nvSpPr>
        <p:spPr>
          <a:xfrm>
            <a:off x="7543720" y="2057276"/>
            <a:ext cx="3688945" cy="28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FF5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beolvasó képernyő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543720" y="2409006"/>
            <a:ext cx="3688945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0DC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fókusz mindig a mezőn.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543720" y="2772184"/>
            <a:ext cx="3688945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0DC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Szín és felirat is jelez.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543720" y="3135362"/>
            <a:ext cx="3688945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0DC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Hálózat nem a felület szálán.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8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A LELTÁROZÁSI FOLYAMAT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18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6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BEJELENTKEZÉSTŐL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A LEZÁRÁSIG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 leltározási folyama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63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Semmi nem vész el: az ismeretlen és az idegen kód is a naplóba kerül.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KIEGÉSZÍTŐ FUNKCIÓ ÉS ÜTEMTERV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19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CÍMKE,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ÉS A MENETREND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722" y="1838650"/>
          <a:ext cx="6340019" cy="2619708"/>
        </p:xfrm>
        <a:graphic>
          <a:graphicData uri="http://schemas.openxmlformats.org/drawingml/2006/table">
            <a:tbl>
              <a:tblPr/>
              <a:tblGrid>
                <a:gridCol w="164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1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Alkalom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Cél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5–6.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valódi adat, leltározás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7–8.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mennyiség, helyiség, felelős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9–10.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összehasonlítás, állapotok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11–12.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admin, export, címke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13–14.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tesztelés, záróbemutató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416709" y="1828713"/>
            <a:ext cx="3962479" cy="2629645"/>
          </a:xfrm>
          <a:prstGeom prst="roundRect">
            <a:avLst>
              <a:gd name="adj" fmla="val 3864"/>
            </a:avLst>
          </a:prstGeom>
          <a:solidFill>
            <a:srgbClr val="343434"/>
          </a:solidFill>
          <a:ln/>
          <a:effectLst>
            <a:outerShdw dist="5388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Text 5"/>
          <p:cNvSpPr/>
          <p:nvPr/>
        </p:nvSpPr>
        <p:spPr>
          <a:xfrm>
            <a:off x="7670679" y="2057276"/>
            <a:ext cx="3558177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FF5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Vonalkódcímke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670679" y="2438251"/>
            <a:ext cx="3558177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0DC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Nyomtatható címke vonalkóddal vagy QR-kóddal.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670679" y="3075732"/>
            <a:ext cx="3558177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ABDB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Kell: a gyári szám csak 21 sorban használható.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3–4. ALKALOM · ÉLŐBEN · A PROTOTÍPUS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20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AZ ELSŐ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MŰKÖDŐ VÁZ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2705055"/>
          </a:xfrm>
          <a:prstGeom prst="roundRect">
            <a:avLst>
              <a:gd name="adj" fmla="val 3756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z eszközlista szűrőkkel"/>
          <p:cNvPicPr>
            <a:picLocks noChangeAspect="1"/>
          </p:cNvPicPr>
          <p:nvPr/>
        </p:nvPicPr>
        <p:blipFill>
          <a:blip r:embed="rId5"/>
          <a:srcRect l="-493" r="-493"/>
          <a:stretch/>
        </p:blipFill>
        <p:spPr>
          <a:xfrm>
            <a:off x="831834" y="1847763"/>
            <a:ext cx="10528253" cy="2666955"/>
          </a:xfrm>
          <a:prstGeom prst="roundRect">
            <a:avLst>
              <a:gd name="adj" fmla="val 3095"/>
            </a:avLst>
          </a:pr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2686005"/>
          </a:xfrm>
          <a:prstGeom prst="roundRect">
            <a:avLst>
              <a:gd name="adj" fmla="val 3428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22309" y="4721076"/>
            <a:ext cx="2508273" cy="476260"/>
          </a:xfrm>
          <a:prstGeom prst="roundRect">
            <a:avLst>
              <a:gd name="adj" fmla="val 19333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</p:spPr>
        <p:txBody>
          <a:bodyPr wrap="square" lIns="47304" tIns="68969" rIns="47304" bIns="43569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Alembic-séma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502003" y="4721076"/>
            <a:ext cx="2508273" cy="476260"/>
          </a:xfrm>
          <a:prstGeom prst="roundRect">
            <a:avLst>
              <a:gd name="adj" fmla="val 19333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</p:spPr>
        <p:txBody>
          <a:bodyPr wrap="square" lIns="47304" tIns="68969" rIns="47304" bIns="43569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3 620 eszköz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181697" y="4721076"/>
            <a:ext cx="2508273" cy="476260"/>
          </a:xfrm>
          <a:prstGeom prst="roundRect">
            <a:avLst>
              <a:gd name="adj" fmla="val 19333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</p:spPr>
        <p:txBody>
          <a:bodyPr wrap="square" lIns="47304" tIns="68969" rIns="47304" bIns="43569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Swagger UI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861391" y="4721076"/>
            <a:ext cx="2508273" cy="476260"/>
          </a:xfrm>
          <a:prstGeom prst="roundRect">
            <a:avLst>
              <a:gd name="adj" fmla="val 19333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</p:spPr>
        <p:txBody>
          <a:bodyPr wrap="square" lIns="47304" tIns="68969" rIns="47304" bIns="43569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 minden PR-on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5–6. ALKALOM · OKT. 6.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21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2124807"/>
            <a:ext cx="6540454" cy="11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0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5–6. </a:t>
            </a:r>
            <a:r>
              <a:rPr lang="en-US" sz="90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ALKALOM</a:t>
            </a:r>
            <a:endParaRPr lang="en-US" sz="9000" dirty="0"/>
          </a:p>
        </p:txBody>
      </p:sp>
      <p:sp>
        <p:nvSpPr>
          <p:cNvPr id="8" name="Text 4"/>
          <p:cNvSpPr/>
          <p:nvPr/>
        </p:nvSpPr>
        <p:spPr>
          <a:xfrm>
            <a:off x="812784" y="3388395"/>
            <a:ext cx="6756348" cy="558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VALÓDI ADAT, VÉGIGJÁRHATÓ LELTÁR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812784" y="4099582"/>
            <a:ext cx="6540454" cy="60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hibalistával, szűrők, adatlap, beolvasás, kódfeloldás. 15/15 mérföldkőpont.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24" b="-24"/>
          <a:stretch/>
        </p:blipFill>
        <p:spPr>
          <a:xfrm>
            <a:off x="7569133" y="1838288"/>
            <a:ext cx="3555984" cy="31305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5–6. ALKALOM · DANI · AZ IMPORT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22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22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HIBÁS SORNÁL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NEM ÁLL LE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z import mene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63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Mentési pont soronként: csak a hibás sor gördül vissza, a betöltés megy tovább.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8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5–6. ALKALOM · SANYI · A KÓDFELOLDÁS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23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6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EGY LEKÉRDEZÉS,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NÉHÁNY IF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 kódfeloldás szabály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63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Azért ilyen egyszerű, mert a (körzet, kód) pár egyedi. Hat egységteszt.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8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5–6. ALKALOM · SANYI · A BEOLVASÓ KÉPERNYŐ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24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6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AZ OLVASÓ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BILLENTYŰZETKÉNT ÍR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2063740"/>
          </a:xfrm>
          <a:prstGeom prst="roundRect">
            <a:avLst>
              <a:gd name="adj" fmla="val 4923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 beolvasó képernyő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234" y="1847763"/>
            <a:ext cx="10373454" cy="2025640"/>
          </a:xfrm>
          <a:custGeom>
            <a:avLst/>
            <a:gdLst/>
            <a:ahLst/>
            <a:cxnLst/>
            <a:rect l="l" t="t" r="r" b="b"/>
            <a:pathLst>
              <a:path w="10373454" h="2025640">
                <a:moveTo>
                  <a:pt x="0" y="161"/>
                </a:moveTo>
                <a:arcTo wR="82550" hR="82550" stAng="15985355" swAng="214645"/>
                <a:lnTo>
                  <a:pt x="10368304" y="0"/>
                </a:lnTo>
                <a:arcTo wR="82550" hR="82550" stAng="16200000" swAng="214645"/>
                <a:lnTo>
                  <a:pt x="10373454" y="2025479"/>
                </a:lnTo>
                <a:arcTo wR="82550" hR="82550" stAng="5185355" swAng="214645"/>
                <a:lnTo>
                  <a:pt x="5151" y="2025640"/>
                </a:lnTo>
                <a:arcTo wR="82550" hR="82550" stAng="5400000" swAng="214645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2044690"/>
          </a:xfrm>
          <a:prstGeom prst="roundRect">
            <a:avLst>
              <a:gd name="adj" fmla="val 4503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6"/>
          <p:cNvSpPr/>
          <p:nvPr/>
        </p:nvSpPr>
        <p:spPr>
          <a:xfrm>
            <a:off x="822309" y="4105176"/>
            <a:ext cx="3367586" cy="1184910"/>
          </a:xfrm>
          <a:prstGeom prst="roundRect">
            <a:avLst>
              <a:gd name="adj" fmla="val 777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7"/>
          <p:cNvSpPr/>
          <p:nvPr/>
        </p:nvSpPr>
        <p:spPr>
          <a:xfrm>
            <a:off x="1032543" y="4264583"/>
            <a:ext cx="3035534" cy="28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Enterre ürül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32543" y="4616326"/>
            <a:ext cx="3035534" cy="53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következő kód nem íródik az előzőre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412142" y="4105176"/>
            <a:ext cx="3367638" cy="1184910"/>
          </a:xfrm>
          <a:prstGeom prst="roundRect">
            <a:avLst>
              <a:gd name="adj" fmla="val 777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0"/>
          <p:cNvSpPr/>
          <p:nvPr/>
        </p:nvSpPr>
        <p:spPr>
          <a:xfrm>
            <a:off x="4622375" y="4264583"/>
            <a:ext cx="3035587" cy="28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Egy kérés úton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22375" y="4616326"/>
            <a:ext cx="3035587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többi sorba áll, nem vész el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8002026" y="4105176"/>
            <a:ext cx="3367638" cy="1184910"/>
          </a:xfrm>
          <a:prstGeom prst="roundRect">
            <a:avLst>
              <a:gd name="adj" fmla="val 777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Text 13"/>
          <p:cNvSpPr/>
          <p:nvPr/>
        </p:nvSpPr>
        <p:spPr>
          <a:xfrm>
            <a:off x="8212259" y="4264583"/>
            <a:ext cx="3035587" cy="28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fókusz visszaugrik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212259" y="4616326"/>
            <a:ext cx="3035587" cy="53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különben a beolvasás a semmibe megy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5–6. ALKALOM · DANI · AZ ADATMODELL ELLENŐRZÉSE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25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6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LELTÁR EREDMÉNYE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A NAPLÓBÓL</a:t>
            </a:r>
            <a:endParaRPr lang="en-US" sz="4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722" y="1838650"/>
          <a:ext cx="10556468" cy="2183090"/>
        </p:xfrm>
        <a:graphic>
          <a:graphicData uri="http://schemas.openxmlformats.org/drawingml/2006/table">
            <a:tbl>
              <a:tblPr/>
              <a:tblGrid>
                <a:gridCol w="5278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Kérdés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Eredmény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Mely kódokhoz nincs eszköz?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XYZ-NINCS, kétszer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 jött idegen körzetből?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022598 papírvágógép (261)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 hiányzik a 262-ből?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2 529 tétel a 2 531-ből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618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Hol tér el a mennyiség?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434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szék: 3 helyett 2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812784" y="4275708"/>
            <a:ext cx="10566405" cy="646957"/>
          </a:xfrm>
          <a:prstGeom prst="roundRect">
            <a:avLst>
              <a:gd name="adj" fmla="val 15704"/>
            </a:avLst>
          </a:prstGeom>
          <a:solidFill>
            <a:srgbClr val="343434"/>
          </a:solidFill>
          <a:ln/>
          <a:effectLst>
            <a:outerShdw dist="53882" dir="2700000" algn="bl" rotWithShape="0">
              <a:srgbClr val="BC81CA">
                <a:alpha val="100000"/>
              </a:srgbClr>
            </a:outerShdw>
          </a:effectLst>
        </p:spPr>
        <p:txBody>
          <a:bodyPr wrap="square" lIns="224212" tIns="148042" rIns="0" bIns="12261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FF5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Mind a négy a naplóból számol, tárolt összesítés nélkül.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5–6. ALKALOM · ÁDÁM · SZŰRŐK ÉS ADATLAP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26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EGY HELYEN SZŰRÜNK: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A SZERVEREN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3930649"/>
          </a:xfrm>
          <a:prstGeom prst="roundRect">
            <a:avLst>
              <a:gd name="adj" fmla="val 2585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z eszközlista a csak főeszközök szűrővel"/>
          <p:cNvPicPr>
            <a:picLocks noChangeAspect="1"/>
          </p:cNvPicPr>
          <p:nvPr/>
        </p:nvPicPr>
        <p:blipFill>
          <a:blip r:embed="rId5"/>
          <a:srcRect l="-320" r="-320"/>
          <a:stretch/>
        </p:blipFill>
        <p:spPr>
          <a:xfrm>
            <a:off x="831834" y="1847763"/>
            <a:ext cx="10528253" cy="3892549"/>
          </a:xfrm>
          <a:prstGeom prst="roundRect">
            <a:avLst>
              <a:gd name="adj" fmla="val 2121"/>
            </a:avLst>
          </a:pr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3911599"/>
          </a:xfrm>
          <a:prstGeom prst="roundRect">
            <a:avLst>
              <a:gd name="adj" fmla="val 2354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5–6. ALKALOM · ÉLŐBEN · LELTÁROZÁS A 262-BEN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27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HÁROM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VISSZAJELZÉS</a:t>
            </a:r>
            <a:endParaRPr lang="en-US" sz="4800" dirty="0"/>
          </a:p>
        </p:txBody>
      </p:sp>
      <p:pic>
        <p:nvPicPr>
          <p:cNvPr id="8" name="Image 2" descr="RENDBEN visszajelzés"/>
          <p:cNvPicPr>
            <a:picLocks noChangeAspect="1"/>
          </p:cNvPicPr>
          <p:nvPr/>
        </p:nvPicPr>
        <p:blipFill>
          <a:blip r:embed="rId5"/>
          <a:srcRect l="-112" r="-112"/>
          <a:stretch/>
        </p:blipFill>
        <p:spPr>
          <a:xfrm>
            <a:off x="812784" y="1828713"/>
            <a:ext cx="8254958" cy="971522"/>
          </a:xfrm>
          <a:prstGeom prst="roundRect">
            <a:avLst>
              <a:gd name="adj" fmla="val 7843"/>
            </a:avLst>
          </a:prstGeom>
        </p:spPr>
      </p:pic>
      <p:pic>
        <p:nvPicPr>
          <p:cNvPr id="9" name="Image 3" descr="IDEGEN KÖRZET visszajelzés"/>
          <p:cNvPicPr>
            <a:picLocks noChangeAspect="1"/>
          </p:cNvPicPr>
          <p:nvPr/>
        </p:nvPicPr>
        <p:blipFill>
          <a:blip r:embed="rId6"/>
          <a:srcRect l="-112" r="-112"/>
          <a:stretch/>
        </p:blipFill>
        <p:spPr>
          <a:xfrm>
            <a:off x="812784" y="2978014"/>
            <a:ext cx="8254958" cy="971522"/>
          </a:xfrm>
          <a:prstGeom prst="roundRect">
            <a:avLst>
              <a:gd name="adj" fmla="val 7843"/>
            </a:avLst>
          </a:prstGeom>
        </p:spPr>
      </p:pic>
      <p:pic>
        <p:nvPicPr>
          <p:cNvPr id="10" name="Image 4" descr="ISMERETLEN KÓD visszajelzés"/>
          <p:cNvPicPr>
            <a:picLocks noChangeAspect="1"/>
          </p:cNvPicPr>
          <p:nvPr/>
        </p:nvPicPr>
        <p:blipFill>
          <a:blip r:embed="rId7"/>
          <a:srcRect l="-112" r="-112"/>
          <a:stretch/>
        </p:blipFill>
        <p:spPr>
          <a:xfrm>
            <a:off x="812784" y="4127326"/>
            <a:ext cx="8254958" cy="971522"/>
          </a:xfrm>
          <a:prstGeom prst="roundRect">
            <a:avLst>
              <a:gd name="adj" fmla="val 7843"/>
            </a:avLst>
          </a:prstGeom>
        </p:spPr>
      </p:pic>
      <p:sp>
        <p:nvSpPr>
          <p:cNvPr id="11" name="Text 4"/>
          <p:cNvSpPr/>
          <p:nvPr/>
        </p:nvSpPr>
        <p:spPr>
          <a:xfrm>
            <a:off x="812784" y="5276627"/>
            <a:ext cx="10883397" cy="31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Mindegyik mellett felirat is van, nem csak szín.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OKT. 20.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28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1430697"/>
            <a:ext cx="6932917" cy="11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50"/>
              </a:lnSpc>
              <a:buNone/>
            </a:pPr>
            <a:r>
              <a:rPr lang="en-US" sz="90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7–8. </a:t>
            </a:r>
            <a:r>
              <a:rPr lang="en-US" sz="90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ALKALOM</a:t>
            </a:r>
            <a:endParaRPr lang="en-US" sz="9000" dirty="0"/>
          </a:p>
        </p:txBody>
      </p:sp>
      <p:sp>
        <p:nvSpPr>
          <p:cNvPr id="8" name="Text 4"/>
          <p:cNvSpPr/>
          <p:nvPr/>
        </p:nvSpPr>
        <p:spPr>
          <a:xfrm>
            <a:off x="812784" y="2668873"/>
            <a:ext cx="6932917" cy="990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MENNYISÉGEK, HELYISÉG, FELELŐS, ESZKÖZTÍPUS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812784" y="3786398"/>
            <a:ext cx="6932917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 Excel és kézi pipák: nincs történet, nincs darabszám, és elvész az idegen eszköz.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2784" y="4487391"/>
            <a:ext cx="1852314" cy="914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13/13</a:t>
            </a:r>
            <a:endParaRPr lang="en-US" sz="7000" dirty="0"/>
          </a:p>
        </p:txBody>
      </p:sp>
      <p:sp>
        <p:nvSpPr>
          <p:cNvPr id="11" name="Text 7"/>
          <p:cNvSpPr/>
          <p:nvPr/>
        </p:nvSpPr>
        <p:spPr>
          <a:xfrm>
            <a:off x="2665099" y="4657564"/>
            <a:ext cx="2485009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mérföldkőpont</a:t>
            </a:r>
            <a:endParaRPr lang="en-US" sz="160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 alkalom: 7 · 8. alkalom: 6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55" b="-55"/>
          <a:stretch/>
        </p:blipFill>
        <p:spPr>
          <a:xfrm>
            <a:off x="7950164" y="1974813"/>
            <a:ext cx="3301963" cy="285747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8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FELÉPÍTÉS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29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6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AMIT AZ ADATBÁZIS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GARANTÁL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22309" y="1838238"/>
            <a:ext cx="5162554" cy="1365851"/>
          </a:xfrm>
          <a:prstGeom prst="roundRect">
            <a:avLst>
              <a:gd name="adj" fmla="val 674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5"/>
          <p:cNvSpPr/>
          <p:nvPr/>
        </p:nvSpPr>
        <p:spPr>
          <a:xfrm>
            <a:off x="1057903" y="2023070"/>
            <a:ext cx="4832107" cy="302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Egyszer vonható vissza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057903" y="2389398"/>
            <a:ext cx="4832107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UNIQUE compensates_scan_id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57903" y="2744961"/>
            <a:ext cx="483210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második visszavonás 409.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07110" y="1838238"/>
            <a:ext cx="5162554" cy="1365851"/>
          </a:xfrm>
          <a:prstGeom prst="roundRect">
            <a:avLst>
              <a:gd name="adj" fmla="val 674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6442704" y="2023070"/>
            <a:ext cx="4832107" cy="302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Negatív darab csak visszavonás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42704" y="2389398"/>
            <a:ext cx="4832107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 előjel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2704" y="2744961"/>
            <a:ext cx="483210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tévedés ellentétes előjelű sor.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22309" y="3426346"/>
            <a:ext cx="5162554" cy="1365851"/>
          </a:xfrm>
          <a:prstGeom prst="roundRect">
            <a:avLst>
              <a:gd name="adj" fmla="val 674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Text 13"/>
          <p:cNvSpPr/>
          <p:nvPr/>
        </p:nvSpPr>
        <p:spPr>
          <a:xfrm>
            <a:off x="1057903" y="3611166"/>
            <a:ext cx="4832107" cy="302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Lezárt munkamenet zárva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1057903" y="3977494"/>
            <a:ext cx="4832107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TRIGGER scan_session_open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057903" y="4333056"/>
            <a:ext cx="483210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Lezárás után nincs beolvasás.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07110" y="3426346"/>
            <a:ext cx="5162554" cy="1365851"/>
          </a:xfrm>
          <a:prstGeom prst="roundRect">
            <a:avLst>
              <a:gd name="adj" fmla="val 674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Text 17"/>
          <p:cNvSpPr/>
          <p:nvPr/>
        </p:nvSpPr>
        <p:spPr>
          <a:xfrm>
            <a:off x="6442704" y="3611166"/>
            <a:ext cx="4832107" cy="302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Egy nyitott felelős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6442704" y="3977494"/>
            <a:ext cx="4832107" cy="292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A4F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UNIQUE … WHERE valid_to IS NULL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42704" y="4333056"/>
            <a:ext cx="483210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Váltáskor a régi sor lezárul.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38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88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EGY BEOLVASÁS ÚTJA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30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6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OLVASÓTÓL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A NAPLÓIG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Egy beolvasás útj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63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Pillanatkép: a darab és a helyiség az Enter pillanatában kerül a sorba.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63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DANI · ÉLŐBEN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47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31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63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HELYISÉGEK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ÉS ESZKÖZTÍPUSOK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13"/>
            <a:ext cx="9524960" cy="2539951"/>
          </a:xfrm>
          <a:prstGeom prst="roundRect">
            <a:avLst>
              <a:gd name="adj" fmla="val 4000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 Helyiségek oldal egy körzet három helyiségév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93" y="1847763"/>
            <a:ext cx="9381943" cy="2501851"/>
          </a:xfrm>
          <a:custGeom>
            <a:avLst/>
            <a:gdLst/>
            <a:ahLst/>
            <a:cxnLst/>
            <a:rect l="l" t="t" r="r" b="b"/>
            <a:pathLst>
              <a:path w="9381943" h="2501851">
                <a:moveTo>
                  <a:pt x="0" y="5680"/>
                </a:moveTo>
                <a:arcTo wR="82550" hR="82550" stAng="14917303" swAng="1282697"/>
                <a:lnTo>
                  <a:pt x="9351851" y="0"/>
                </a:lnTo>
                <a:arcTo wR="82550" hR="82550" stAng="16200000" swAng="1282697"/>
                <a:lnTo>
                  <a:pt x="9381943" y="2496171"/>
                </a:lnTo>
                <a:arcTo wR="82550" hR="82550" stAng="4117303" swAng="1282697"/>
                <a:lnTo>
                  <a:pt x="30091" y="2501851"/>
                </a:lnTo>
                <a:arcTo wR="82550" hR="82550" stAng="5400000" swAng="128269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38"/>
            <a:ext cx="9505910" cy="2520901"/>
          </a:xfrm>
          <a:prstGeom prst="roundRect">
            <a:avLst>
              <a:gd name="adj" fmla="val 365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6"/>
          <p:cNvSpPr/>
          <p:nvPr/>
        </p:nvSpPr>
        <p:spPr>
          <a:xfrm>
            <a:off x="822309" y="4581389"/>
            <a:ext cx="3367586" cy="927732"/>
          </a:xfrm>
          <a:prstGeom prst="roundRect">
            <a:avLst>
              <a:gd name="adj" fmla="val 9925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7"/>
          <p:cNvSpPr/>
          <p:nvPr/>
        </p:nvSpPr>
        <p:spPr>
          <a:xfrm>
            <a:off x="1032543" y="4740783"/>
            <a:ext cx="3035534" cy="28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Helyiség felvétele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32543" y="5092539"/>
            <a:ext cx="3035534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Helyiségek oldal, POST /rooms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412142" y="4581389"/>
            <a:ext cx="3367638" cy="927732"/>
          </a:xfrm>
          <a:prstGeom prst="roundRect">
            <a:avLst>
              <a:gd name="adj" fmla="val 9925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0"/>
          <p:cNvSpPr/>
          <p:nvPr/>
        </p:nvSpPr>
        <p:spPr>
          <a:xfrm>
            <a:off x="4622375" y="4740783"/>
            <a:ext cx="3035587" cy="28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Dupla ajtószám: 409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22375" y="5092539"/>
            <a:ext cx="3035587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az adatbázis megkötése dönt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8002026" y="4581389"/>
            <a:ext cx="3367638" cy="927732"/>
          </a:xfrm>
          <a:prstGeom prst="roundRect">
            <a:avLst>
              <a:gd name="adj" fmla="val 9925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Text 13"/>
          <p:cNvSpPr/>
          <p:nvPr/>
        </p:nvSpPr>
        <p:spPr>
          <a:xfrm>
            <a:off x="8212259" y="4740783"/>
            <a:ext cx="3035587" cy="28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Típusok a felületről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212259" y="5092539"/>
            <a:ext cx="3035587" cy="28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új típus, átsorolás, szűrő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75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50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1000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ÁDÁM · ÉLŐBEN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32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75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SZŰRÉS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KÖRZETRE ÉS FELELŐSRE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26"/>
            <a:ext cx="10566353" cy="2590776"/>
          </a:xfrm>
          <a:prstGeom prst="roundRect">
            <a:avLst>
              <a:gd name="adj" fmla="val 3922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z eszközlista a 262-es körzetre és Teszt Anna felelősre szűrv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25" y="1847776"/>
            <a:ext cx="10411272" cy="2552676"/>
          </a:xfrm>
          <a:custGeom>
            <a:avLst/>
            <a:gdLst/>
            <a:ahLst/>
            <a:cxnLst/>
            <a:rect l="l" t="t" r="r" b="b"/>
            <a:pathLst>
              <a:path w="10411272" h="2552676">
                <a:moveTo>
                  <a:pt x="0" y="3584"/>
                </a:moveTo>
                <a:arcTo wR="82550" hR="82550" stAng="15183292" swAng="1016708"/>
                <a:lnTo>
                  <a:pt x="10387212" y="0"/>
                </a:lnTo>
                <a:arcTo wR="82550" hR="82550" stAng="16200000" swAng="1016708"/>
                <a:lnTo>
                  <a:pt x="10411272" y="2549092"/>
                </a:lnTo>
                <a:arcTo wR="82550" hR="82550" stAng="4383292" swAng="1016708"/>
                <a:lnTo>
                  <a:pt x="24060" y="2552676"/>
                </a:lnTo>
                <a:arcTo wR="82550" hR="82550" stAng="5400000" swAng="1016708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51"/>
            <a:ext cx="10547303" cy="2571726"/>
          </a:xfrm>
          <a:prstGeom prst="roundRect">
            <a:avLst>
              <a:gd name="adj" fmla="val 3580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4597276"/>
            <a:ext cx="10883397" cy="31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Körzet, helyiség, típus és felelős szerint; új Típus és Felelős oszlop.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75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50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1000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ÁDÁM · ÉLŐBEN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33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75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TÍPUS ÉS FELELŐS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AZ ADATLAPON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26"/>
            <a:ext cx="9245578" cy="3238457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Egy eszköz adatlapja a típus és a felelős legördülőjével"/>
          <p:cNvPicPr>
            <a:picLocks noChangeAspect="1"/>
          </p:cNvPicPr>
          <p:nvPr/>
        </p:nvPicPr>
        <p:blipFill>
          <a:blip r:embed="rId5"/>
          <a:srcRect l="-348" r="-348"/>
          <a:stretch/>
        </p:blipFill>
        <p:spPr>
          <a:xfrm>
            <a:off x="831834" y="1847776"/>
            <a:ext cx="9207478" cy="3200357"/>
          </a:xfrm>
          <a:prstGeom prst="roundRect">
            <a:avLst>
              <a:gd name="adj" fmla="val 2579"/>
            </a:avLst>
          </a:prstGeom>
        </p:spPr>
      </p:pic>
      <p:sp>
        <p:nvSpPr>
          <p:cNvPr id="10" name="Shape 5"/>
          <p:cNvSpPr/>
          <p:nvPr/>
        </p:nvSpPr>
        <p:spPr>
          <a:xfrm>
            <a:off x="822309" y="1838251"/>
            <a:ext cx="9226528" cy="3219407"/>
          </a:xfrm>
          <a:prstGeom prst="roundRect">
            <a:avLst>
              <a:gd name="adj" fmla="val 2860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244976"/>
            <a:ext cx="10883397" cy="31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Külön mentés mindkettőre; a felelősváltás új sort nyit.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75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SANYI · ÉLŐBEN · G-105 · TÁRGYALÓ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34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75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DARABSZÁM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A LELTÁRBAN</a:t>
            </a:r>
            <a:endParaRPr lang="en-US" sz="4800" dirty="0"/>
          </a:p>
        </p:txBody>
      </p:sp>
      <p:pic>
        <p:nvPicPr>
          <p:cNvPr id="8" name="Image 2" descr="RENDBEN 27/31 db, hiányzik 4"/>
          <p:cNvPicPr>
            <a:picLocks noChangeAspect="1"/>
          </p:cNvPicPr>
          <p:nvPr/>
        </p:nvPicPr>
        <p:blipFill>
          <a:blip r:embed="rId5"/>
          <a:srcRect l="-101" r="-101"/>
          <a:stretch/>
        </p:blipFill>
        <p:spPr>
          <a:xfrm>
            <a:off x="812784" y="1828726"/>
            <a:ext cx="9905991" cy="1035027"/>
          </a:xfrm>
          <a:prstGeom prst="roundRect">
            <a:avLst>
              <a:gd name="adj" fmla="val 7362"/>
            </a:avLst>
          </a:prstGeom>
        </p:spPr>
      </p:pic>
      <p:pic>
        <p:nvPicPr>
          <p:cNvPr id="9" name="Image 3" descr="TÖBBLET 32 db a nyilvántartott 31 helyett"/>
          <p:cNvPicPr>
            <a:picLocks noChangeAspect="1"/>
          </p:cNvPicPr>
          <p:nvPr/>
        </p:nvPicPr>
        <p:blipFill>
          <a:blip r:embed="rId6"/>
          <a:srcRect l="-101" r="-101"/>
          <a:stretch/>
        </p:blipFill>
        <p:spPr>
          <a:xfrm>
            <a:off x="812784" y="3016126"/>
            <a:ext cx="9905991" cy="1035027"/>
          </a:xfrm>
          <a:prstGeom prst="roundRect">
            <a:avLst>
              <a:gd name="adj" fmla="val 7362"/>
            </a:avLst>
          </a:prstGeom>
        </p:spPr>
      </p:pic>
      <p:pic>
        <p:nvPicPr>
          <p:cNvPr id="10" name="Image 4" descr="VISSZAVONVA 027134, 5 db"/>
          <p:cNvPicPr>
            <a:picLocks noChangeAspect="1"/>
          </p:cNvPicPr>
          <p:nvPr/>
        </p:nvPicPr>
        <p:blipFill>
          <a:blip r:embed="rId7"/>
          <a:srcRect l="-101" r="-101"/>
          <a:stretch/>
        </p:blipFill>
        <p:spPr>
          <a:xfrm>
            <a:off x="812784" y="4203526"/>
            <a:ext cx="9905991" cy="1035027"/>
          </a:xfrm>
          <a:prstGeom prst="roundRect">
            <a:avLst>
              <a:gd name="adj" fmla="val 7362"/>
            </a:avLst>
          </a:prstGeom>
        </p:spPr>
      </p:pic>
      <p:sp>
        <p:nvSpPr>
          <p:cNvPr id="11" name="Text 4"/>
          <p:cNvSpPr/>
          <p:nvPr/>
        </p:nvSpPr>
        <p:spPr>
          <a:xfrm>
            <a:off x="812784" y="5390927"/>
            <a:ext cx="10883397" cy="31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hiányt és a többletet nem tároljuk: a naplóból számoljuk.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75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A NAPLÓ ÉS A DARABSZÁM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35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DARAB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A NAPLÓ ÖSSZEGE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26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Három naplósor a 027134 szék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76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51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Nincs tárolt összeg: a darab a FOUND és SURPLUS sorok összege az időszakban.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75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A FELELŐS SZEMÉLY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36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FELELŐS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NEM ÍRÓDIK FELÜL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26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Felelősváltás idővonal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76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51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Váltáskor a régi sor lezárul, új nyílik, egy tranzakcióban.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75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ADATMODELL · TÖRTÉNETI KAPCSOLATOK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37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AMI KÉSZ,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ÉS AMI JÖN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26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ER-ábra, történeti kapcsolat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76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51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hely ma a naplóból számolt: az utolsó, vissza nem vont beolvasás helyisége.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50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ADAT A FORRÁSON TÚL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38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KATEGÓRIÁK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ÉS TÖRTÉNET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22309" y="1838226"/>
            <a:ext cx="3344813" cy="2378674"/>
          </a:xfrm>
          <a:prstGeom prst="roundRect">
            <a:avLst>
              <a:gd name="adj" fmla="val 387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5"/>
          <p:cNvSpPr/>
          <p:nvPr/>
        </p:nvSpPr>
        <p:spPr>
          <a:xfrm>
            <a:off x="1083316" y="2073821"/>
            <a:ext cx="2907485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Eszköztípus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83316" y="2454821"/>
            <a:ext cx="2907485" cy="914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22,3%</a:t>
            </a:r>
            <a:endParaRPr lang="en-US" sz="7000" dirty="0"/>
          </a:p>
        </p:txBody>
      </p:sp>
      <p:sp>
        <p:nvSpPr>
          <p:cNvPr id="11" name="Text 7"/>
          <p:cNvSpPr/>
          <p:nvPr/>
        </p:nvSpPr>
        <p:spPr>
          <a:xfrm>
            <a:off x="1083316" y="3432696"/>
            <a:ext cx="2907485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maradt „Egyéb”; az első változatnál 41,3%.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40142" y="1838226"/>
            <a:ext cx="3344813" cy="2378674"/>
          </a:xfrm>
          <a:prstGeom prst="roundRect">
            <a:avLst>
              <a:gd name="adj" fmla="val 3871"/>
            </a:avLst>
          </a:prstGeom>
          <a:solidFill>
            <a:srgbClr val="FFFCF8"/>
          </a:solidFill>
          <a:ln w="19050">
            <a:solidFill>
              <a:srgbClr val="343434"/>
            </a:solidFill>
            <a:prstDash val="solid"/>
          </a:ln>
          <a:effectLst>
            <a:outerShdw dist="53882" dir="2700000" algn="bl" rotWithShape="0">
              <a:srgbClr val="FABDBD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4701148" y="2073821"/>
            <a:ext cx="2907485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Felelős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01148" y="2454821"/>
            <a:ext cx="2907485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8A4F9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Anna → Béla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4701148" y="3023716"/>
            <a:ext cx="2907485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5A50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Váltáskor a régi sor lezárul, a korábbi felelős megmarad.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48450" y="1828701"/>
            <a:ext cx="3330739" cy="2397724"/>
          </a:xfrm>
          <a:prstGeom prst="roundRect">
            <a:avLst>
              <a:gd name="adj" fmla="val 4237"/>
            </a:avLst>
          </a:prstGeom>
          <a:solidFill>
            <a:srgbClr val="343434"/>
          </a:solidFill>
          <a:ln/>
          <a:effectLst>
            <a:outerShdw dist="5388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Text 13"/>
          <p:cNvSpPr/>
          <p:nvPr/>
        </p:nvSpPr>
        <p:spPr>
          <a:xfrm>
            <a:off x="8302419" y="2057276"/>
            <a:ext cx="2907485" cy="3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FF5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Következik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302419" y="2438251"/>
            <a:ext cx="2907485" cy="57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0DC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9.: összehasonlítás, hiány- és többletlista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302419" y="3075732"/>
            <a:ext cx="2907485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0DC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10.: állapotok, történetiség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50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 · SANYI · DEVOPS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39 / 40</a:t>
            </a:r>
            <a:endParaRPr lang="en-US" sz="1400" dirty="0"/>
          </a:p>
        </p:txBody>
      </p:sp>
      <p:sp>
        <p:nvSpPr>
          <p:cNvPr id="7" name="Text 3"/>
          <p:cNvSpPr>
            <a:spLocks noGrp="1"/>
          </p:cNvSpPr>
          <p:nvPr>
            <p:ph type="title"/>
          </p:nvPr>
        </p:nvSpPr>
        <p:spPr>
          <a:xfrm>
            <a:off x="812784" y="965150"/>
            <a:ext cx="10883397" cy="6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ELLENŐRZÉS</a:t>
            </a:r>
            <a:r>
              <a:rPr lang="en-US" sz="4800" b="0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ÉS EGY PARANCS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812784" y="1828701"/>
            <a:ext cx="10566353" cy="3530571"/>
          </a:xfrm>
          <a:prstGeom prst="roundRect">
            <a:avLst>
              <a:gd name="adj" fmla="val 2878"/>
            </a:avLst>
          </a:prstGeom>
          <a:solidFill>
            <a:srgbClr val="FFFCF8"/>
          </a:solidFill>
          <a:ln/>
          <a:effectLst>
            <a:outerShdw dist="71842" dir="2700000" algn="bl" rotWithShape="0">
              <a:srgbClr val="BC81CA">
                <a:alpha val="10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2" descr="A CI lépései és az indító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46" y="1847751"/>
            <a:ext cx="10377629" cy="3492471"/>
          </a:xfrm>
          <a:custGeom>
            <a:avLst/>
            <a:gdLst/>
            <a:ahLst/>
            <a:cxnLst/>
            <a:rect l="l" t="t" r="r" b="b"/>
            <a:pathLst>
              <a:path w="10377629" h="3492471">
                <a:moveTo>
                  <a:pt x="0" y="318"/>
                </a:moveTo>
                <a:arcTo wR="82550" hR="82550" stAng="15898183" swAng="301817"/>
                <a:lnTo>
                  <a:pt x="10370391" y="0"/>
                </a:lnTo>
                <a:arcTo wR="82550" hR="82550" stAng="16200000" swAng="301817"/>
                <a:lnTo>
                  <a:pt x="10377629" y="3492153"/>
                </a:lnTo>
                <a:arcTo wR="82550" hR="82550" stAng="5098183" swAng="301817"/>
                <a:lnTo>
                  <a:pt x="7238" y="3492471"/>
                </a:lnTo>
                <a:arcTo wR="82550" hR="82550" stAng="5400000" swAng="301817"/>
                <a:close/>
              </a:path>
            </a:pathLst>
          </a:custGeom>
        </p:spPr>
      </p:pic>
      <p:sp>
        <p:nvSpPr>
          <p:cNvPr id="10" name="Shape 5"/>
          <p:cNvSpPr/>
          <p:nvPr/>
        </p:nvSpPr>
        <p:spPr>
          <a:xfrm>
            <a:off x="822309" y="1838226"/>
            <a:ext cx="10547303" cy="3511521"/>
          </a:xfrm>
          <a:prstGeom prst="roundRect">
            <a:avLst>
              <a:gd name="adj" fmla="val 2622"/>
            </a:avLst>
          </a:prstGeom>
          <a:noFill/>
          <a:ln w="1905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6"/>
          <p:cNvSpPr/>
          <p:nvPr/>
        </p:nvSpPr>
        <p:spPr>
          <a:xfrm>
            <a:off x="812784" y="5498976"/>
            <a:ext cx="10883397" cy="299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57 automatikus teszt; a hibás downgrade piros PR, nem átadási hiba.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74" cy="685799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-398" r="-398"/>
          <a:stretch/>
        </p:blipFill>
        <p:spPr>
          <a:xfrm>
            <a:off x="812784" y="292050"/>
            <a:ext cx="355567" cy="38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57269" y="298425"/>
            <a:ext cx="1193791" cy="39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</a:t>
            </a:r>
            <a:endParaRPr lang="en-US" sz="14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LABOR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3530581" y="380975"/>
            <a:ext cx="784855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8A4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7–8. ALKALOM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286217" y="6253535"/>
            <a:ext cx="209292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Oldal 40 / 40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114" b="-114"/>
          <a:stretch/>
        </p:blipFill>
        <p:spPr>
          <a:xfrm>
            <a:off x="2984488" y="952475"/>
            <a:ext cx="1498558" cy="113662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77" r="-77"/>
          <a:stretch/>
        </p:blipFill>
        <p:spPr>
          <a:xfrm>
            <a:off x="10159960" y="1587475"/>
            <a:ext cx="1117579" cy="1530337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 t="-1514" b="-1514"/>
          <a:stretch/>
        </p:blipFill>
        <p:spPr>
          <a:xfrm>
            <a:off x="6349956" y="4889475"/>
            <a:ext cx="831831" cy="1390646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rcRect l="-105" r="-105"/>
          <a:stretch/>
        </p:blipFill>
        <p:spPr>
          <a:xfrm>
            <a:off x="0" y="5175225"/>
            <a:ext cx="2774926" cy="1682708"/>
          </a:xfrm>
          <a:prstGeom prst="rect">
            <a:avLst/>
          </a:prstGeom>
        </p:spPr>
      </p:pic>
      <p:sp>
        <p:nvSpPr>
          <p:cNvPr id="11" name="Text 3"/>
          <p:cNvSpPr>
            <a:spLocks noGrp="1"/>
          </p:cNvSpPr>
          <p:nvPr>
            <p:ph type="title"/>
          </p:nvPr>
        </p:nvSpPr>
        <p:spPr>
          <a:xfrm>
            <a:off x="2577898" y="1803400"/>
            <a:ext cx="7036177" cy="2679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450"/>
              </a:lnSpc>
              <a:buNone/>
            </a:pPr>
            <a:r>
              <a:rPr lang="en-US" sz="110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KÖSZÖNJÜK A</a:t>
            </a:r>
            <a:endParaRPr lang="en-US" sz="11000" dirty="0"/>
          </a:p>
          <a:p>
            <a:pPr marL="0" indent="0" algn="ctr">
              <a:lnSpc>
                <a:spcPts val="10450"/>
              </a:lnSpc>
              <a:buNone/>
            </a:pPr>
            <a:r>
              <a:rPr lang="en-US" sz="11000" b="1" i="0" dirty="0">
                <a:solidFill>
                  <a:srgbClr val="3434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FIGYELMET!</a:t>
            </a:r>
            <a:endParaRPr lang="en-US" sz="11000" dirty="0"/>
          </a:p>
        </p:txBody>
      </p:sp>
      <p:sp>
        <p:nvSpPr>
          <p:cNvPr id="12" name="Text 4"/>
          <p:cNvSpPr/>
          <p:nvPr/>
        </p:nvSpPr>
        <p:spPr>
          <a:xfrm>
            <a:off x="5315664" y="4660875"/>
            <a:ext cx="1560645" cy="368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3434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Kérdések?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ltárív – a félév bemutatói">
  <a:themeElements>
    <a:clrScheme name="Leltárív – a félév bemutatói">
      <a:dk1>
        <a:srgbClr val="141413"/>
      </a:dk1>
      <a:lt1>
        <a:srgbClr val="FFF5EC"/>
      </a:lt1>
      <a:dk2>
        <a:srgbClr val="4F4C49"/>
      </a:dk2>
      <a:lt2>
        <a:srgbClr val="E8DFD6"/>
      </a:lt2>
      <a:accent1>
        <a:srgbClr val="8A4F99"/>
      </a:accent1>
      <a:accent2>
        <a:srgbClr val="FABDBD"/>
      </a:accent2>
      <a:accent3>
        <a:srgbClr val="343434"/>
      </a:accent3>
      <a:accent4>
        <a:srgbClr val="5A5050"/>
      </a:accent4>
      <a:accent5>
        <a:srgbClr val="F0DCDC"/>
      </a:accent5>
      <a:accent6>
        <a:srgbClr val="9AA0A6"/>
      </a:accent6>
      <a:hlink>
        <a:srgbClr val="0563C1"/>
      </a:hlink>
      <a:folHlink>
        <a:srgbClr val="954F72"/>
      </a:folHlink>
    </a:clrScheme>
    <a:fontScheme name="Leltárív – a félév bemutatói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5843</Words>
  <Application>Microsoft Office PowerPoint</Application>
  <PresentationFormat>Szélesvásznú</PresentationFormat>
  <Paragraphs>525</Paragraphs>
  <Slides>40</Slides>
  <Notes>40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40</vt:i4>
      </vt:variant>
    </vt:vector>
  </HeadingPairs>
  <TitlesOfParts>
    <vt:vector size="45" baseType="lpstr">
      <vt:lpstr>Arial</vt:lpstr>
      <vt:lpstr>Barlow Condensed</vt:lpstr>
      <vt:lpstr>DM Sans</vt:lpstr>
      <vt:lpstr>JetBrains Mono</vt:lpstr>
      <vt:lpstr>Leltárív – a félév bemutatói</vt:lpstr>
      <vt:lpstr>LELTÁRÍV</vt:lpstr>
      <vt:lpstr>2. ALKALOM</vt:lpstr>
      <vt:lpstr>AMIT MA EGY EXCEL-TÁBLA OLD MEG</vt:lpstr>
      <vt:lpstr>A FOGALMAK, VÉGIG EGY ÉRTELEMBEN</vt:lpstr>
      <vt:lpstr>UGYANAZ A KÉRDÉS MINDHEZ</vt:lpstr>
      <vt:lpstr>AMIT A KIÍRÁS NYITVA HAGY</vt:lpstr>
      <vt:lpstr>HÁROM SZEREPKÖR, TÍZ ESET</vt:lpstr>
      <vt:lpstr>PYTHON VÉGIG, ASZTALI KLIENSSEL</vt:lpstr>
      <vt:lpstr>HAT CSOMAG, SZIGORÚ IRÁNYOKKAL</vt:lpstr>
      <vt:lpstr>HÁROM CSOPORT, EGY GERINC</vt:lpstr>
      <vt:lpstr>KI MIT VISZ</vt:lpstr>
      <vt:lpstr>3–4. ALKALOM</vt:lpstr>
      <vt:lpstr>MIND A 6 480 SORT VÉGIGOLVASTUK</vt:lpstr>
      <vt:lpstr>AZ ESZKÖZ ÉS A KÓDJAI</vt:lpstr>
      <vt:lpstr>A BEOLVASÁS ESEMÉNY</vt:lpstr>
      <vt:lpstr>MI FUT, ÉS HOL</vt:lpstr>
      <vt:lpstr>TEREP ÉS IRODA: KÜLÖN FELÜLET</vt:lpstr>
      <vt:lpstr>BEJELENTKEZÉSTŐL A LEZÁRÁSIG</vt:lpstr>
      <vt:lpstr>CÍMKE, ÉS A MENETREND</vt:lpstr>
      <vt:lpstr>AZ ELSŐ MŰKÖDŐ VÁZ</vt:lpstr>
      <vt:lpstr>5–6. ALKALOM</vt:lpstr>
      <vt:lpstr>HIBÁS SORNÁL NEM ÁLL LE</vt:lpstr>
      <vt:lpstr>EGY LEKÉRDEZÉS, NÉHÁNY IF</vt:lpstr>
      <vt:lpstr>AZ OLVASÓ BILLENTYŰZETKÉNT ÍR</vt:lpstr>
      <vt:lpstr>A LELTÁR EREDMÉNYE A NAPLÓBÓL</vt:lpstr>
      <vt:lpstr>EGY HELYEN SZŰRÜNK: A SZERVEREN</vt:lpstr>
      <vt:lpstr>HÁROM VISSZAJELZÉS</vt:lpstr>
      <vt:lpstr>7–8. ALKALOM</vt:lpstr>
      <vt:lpstr>AMIT AZ ADATBÁZIS GARANTÁL</vt:lpstr>
      <vt:lpstr>OLVASÓTÓL A NAPLÓIG</vt:lpstr>
      <vt:lpstr>HELYISÉGEK ÉS ESZKÖZTÍPUSOK</vt:lpstr>
      <vt:lpstr>SZŰRÉS KÖRZETRE ÉS FELELŐSRE</vt:lpstr>
      <vt:lpstr>TÍPUS ÉS FELELŐS AZ ADATLAPON</vt:lpstr>
      <vt:lpstr>DARABSZÁM A LELTÁRBAN</vt:lpstr>
      <vt:lpstr>A DARAB A NAPLÓ ÖSSZEGE</vt:lpstr>
      <vt:lpstr>A FELELŐS NEM ÍRÓDIK FELÜL</vt:lpstr>
      <vt:lpstr>AMI KÉSZ, ÉS AMI JÖN</vt:lpstr>
      <vt:lpstr>KATEGÓRIÁK ÉS TÖRTÉNET</vt:lpstr>
      <vt:lpstr>ELLENŐRZÉS ÉS EGY PARANCS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Leltárív – a félév bemutatói</dc:title>
  <dc:subject/>
  <dc:creator>Sanyi</dc:creator>
  <cp:lastModifiedBy>Csernus Sándor Ádám</cp:lastModifiedBy>
  <cp:revision>1</cp:revision>
  <dcterms:created xsi:type="dcterms:W3CDTF">2026-10-19T16:49:57Z</dcterms:created>
  <dcterms:modified xsi:type="dcterms:W3CDTF">2026-10-19T16:51:14Z</dcterms:modified>
</cp:coreProperties>
</file>